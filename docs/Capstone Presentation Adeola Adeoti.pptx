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6" r:id="rId9"/>
    <p:sldId id="267" r:id="rId10"/>
    <p:sldId id="261" r:id="rId11"/>
    <p:sldId id="268" r:id="rId12"/>
    <p:sldId id="269" r:id="rId13"/>
    <p:sldId id="262" r:id="rId14"/>
    <p:sldId id="26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gbYjccChfboh+PxKghejRKd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1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94" autoAdjust="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19600"/>
            <a:ext cx="1219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0830" y="3686830"/>
            <a:ext cx="1905000" cy="5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369" y="6362197"/>
            <a:ext cx="960461" cy="3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3976469" y="2607021"/>
            <a:ext cx="4239062" cy="16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261257" y="5321712"/>
            <a:ext cx="1089659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r>
              <a:rPr lang="en-IN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Design Review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291078" y="1298425"/>
            <a:ext cx="1160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FE501-52FC-9663-175F-EE814939F785}"/>
              </a:ext>
            </a:extLst>
          </p:cNvPr>
          <p:cNvSpPr txBox="1"/>
          <p:nvPr/>
        </p:nvSpPr>
        <p:spPr>
          <a:xfrm>
            <a:off x="859972" y="2488225"/>
            <a:ext cx="10472057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en-IN" dirty="0"/>
              <a:t>Designing and Evaluating a Retrieval-Augmented LLM System</a:t>
            </a:r>
          </a:p>
          <a:p>
            <a:pPr algn="ctr"/>
            <a:r>
              <a:rPr lang="en-IN" dirty="0"/>
              <a:t>Adeola Adeoti  |  Research Paper Navigator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859DA-4EBF-86FB-39DA-CC40AEFAA531}"/>
              </a:ext>
            </a:extLst>
          </p:cNvPr>
          <p:cNvSpPr txBox="1"/>
          <p:nvPr/>
        </p:nvSpPr>
        <p:spPr>
          <a:xfrm>
            <a:off x="850434" y="4692555"/>
            <a:ext cx="93059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Repository:  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github.com/deolly/research-paper-navigator</a:t>
            </a:r>
            <a:endParaRPr lang="en-IN" sz="20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09ED82-7865-1E75-8005-E3EE187972A9}"/>
              </a:ext>
            </a:extLst>
          </p:cNvPr>
          <p:cNvSpPr txBox="1"/>
          <p:nvPr/>
        </p:nvSpPr>
        <p:spPr>
          <a:xfrm>
            <a:off x="704088" y="1490472"/>
            <a:ext cx="10789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153 research papers on program synthesis. The questions a researcher asks are about what the papers say.</a:t>
            </a:r>
          </a:p>
          <a:p>
            <a:pPr algn="l"/>
            <a:endParaRPr lang="en-IN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Keyword search returns documents. It cannot answer across papers, and it cannot follow a citation.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An LLM on its own answers from memory and invents a plausible-looking citation.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So the system must ground every claim in a retrieved paper - or refuse to answer at 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701040" y="1080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701040" y="212797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kinds of question, only one of them is easy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EE7F4-1CFF-29DE-930D-1920750D1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1332"/>
            <a:ext cx="12192000" cy="5513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701040" y="178344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6A769-13C3-8388-C93D-3821F8C0B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516"/>
            <a:ext cx="12192000" cy="56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704088" y="7751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strategy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D7E40-0963-26B0-7A93-111A7D84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7" b="5320"/>
          <a:stretch>
            <a:fillRect/>
          </a:stretch>
        </p:blipFill>
        <p:spPr>
          <a:xfrm>
            <a:off x="49419" y="494540"/>
            <a:ext cx="12105634" cy="63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768742" y="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system was evaluated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6D7B2-E086-E74A-E9B9-2B480E7B0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6" b="1418"/>
          <a:stretch>
            <a:fillRect/>
          </a:stretch>
        </p:blipFill>
        <p:spPr>
          <a:xfrm>
            <a:off x="175491" y="517228"/>
            <a:ext cx="11841018" cy="633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701024" y="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Representative results -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90E0F-201F-7BB8-5900-9A126879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1028"/>
            <a:ext cx="12192000" cy="579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725616" y="132624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Representative results - COST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F28974-4206-DB55-A407-D73E02177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75" b="2469"/>
          <a:stretch>
            <a:fillRect/>
          </a:stretch>
        </p:blipFill>
        <p:spPr>
          <a:xfrm>
            <a:off x="487871" y="822960"/>
            <a:ext cx="11257241" cy="60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701040" y="62241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09FE3-99EC-7B5C-0ABA-A323473F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3" b="2667"/>
          <a:stretch>
            <a:fillRect/>
          </a:stretch>
        </p:blipFill>
        <p:spPr>
          <a:xfrm>
            <a:off x="271463" y="585461"/>
            <a:ext cx="11609641" cy="62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701039" y="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trade-offs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28B9F-9899-3999-0A3E-25A55D858A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4" b="1957"/>
          <a:stretch>
            <a:fillRect/>
          </a:stretch>
        </p:blipFill>
        <p:spPr>
          <a:xfrm>
            <a:off x="286607" y="566928"/>
            <a:ext cx="11618785" cy="62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631922-EDA2-CA93-9A0A-C814D5C410DE}"/>
              </a:ext>
            </a:extLst>
          </p:cNvPr>
          <p:cNvSpPr txBox="1"/>
          <p:nvPr/>
        </p:nvSpPr>
        <p:spPr>
          <a:xfrm>
            <a:off x="704088" y="1490472"/>
            <a:ext cx="107899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457200" indent="-457200" algn="l">
              <a:buFont typeface="+mj-lt"/>
              <a:buAutoNum type="arabicPeriod"/>
            </a:pPr>
            <a:r>
              <a:rPr lang="en-US" sz="2000" b="0" dirty="0">
                <a:solidFill>
                  <a:schemeClr val="tx1"/>
                </a:solidFill>
              </a:rPr>
              <a:t>A detector matched “arr” as a substring; it would have fired on “narrow” and “carry”.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b="0" dirty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000" b="0" dirty="0">
                <a:solidFill>
                  <a:schemeClr val="tx1"/>
                </a:solidFill>
              </a:rPr>
              <a:t>Parse failures were scored as the system resisting. A crashed planner is the attack succeeding.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b="0" dirty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000" b="0" dirty="0">
                <a:solidFill>
                  <a:schemeClr val="tx1"/>
                </a:solidFill>
              </a:rPr>
              <a:t>A keyword detector called a correct refusal compromised, then missed one in the second paragraph.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b="0" dirty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000" b="0" dirty="0">
                <a:solidFill>
                  <a:schemeClr val="tx1"/>
                </a:solidFill>
              </a:rPr>
              <a:t>A warning was unreachable: its logging sat inside if verbose, and the caller passed verbose=False.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b="0" dirty="0">
              <a:solidFill>
                <a:schemeClr val="tx1"/>
              </a:solidFill>
            </a:endParaRPr>
          </a:p>
          <a:p>
            <a:pPr algn="l"/>
            <a:endParaRPr lang="en-US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All four biased results toward making the system look safer than it actually was.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704088" y="7756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of the bugs were in the measuring instruments</a:t>
            </a:r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704088" y="7751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Future Improvements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B8EA2-B233-8256-CD6F-BD45CC962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2" b="2896"/>
          <a:stretch>
            <a:fillRect/>
          </a:stretch>
        </p:blipFill>
        <p:spPr>
          <a:xfrm>
            <a:off x="178729" y="449803"/>
            <a:ext cx="11865488" cy="640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43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F855BA-637F-6673-4E5F-82CCABEA7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9280"/>
            <a:ext cx="12192000" cy="425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86198"/>
      </p:ext>
    </p:extLst>
  </p:cSld>
  <p:clrMapOvr>
    <a:masterClrMapping/>
  </p:clrMapOvr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234</Words>
  <Application>Microsoft Office PowerPoint</Application>
  <PresentationFormat>Widescreen</PresentationFormat>
  <Paragraphs>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1_MIT 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Shilpiya</dc:creator>
  <cp:lastModifiedBy>Adeola Adeoti</cp:lastModifiedBy>
  <cp:revision>21</cp:revision>
  <dcterms:created xsi:type="dcterms:W3CDTF">2018-11-05T13:58:18Z</dcterms:created>
  <dcterms:modified xsi:type="dcterms:W3CDTF">2026-10-19T19:35:23Z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0x010100296DC331548237488BA9A87C5C22BBA4</vt:lpwstr>
  </property>
  <property fmtid="{D5CDD505-2E9C-101B-9397-08002B2CF9AE}" pid="3" name="ArticulateGUID">
    <vt:lpwstr>405BEB8A-A8B9-422E-86C1-391F774E521D</vt:lpwstr>
  </property>
  <property fmtid="{D5CDD505-2E9C-101B-9397-08002B2CF9AE}" pid="4" name="ArticulatePath">
    <vt:lpwstr>MIT_xPRO_PPT_Template</vt:lpwstr>
  </property>
</Properties>
</file>