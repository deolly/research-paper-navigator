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58" r:id="rId4"/>
    <p:sldId id="264" r:id="rId18"/>
    <p:sldId id="259" r:id="rId5"/>
    <p:sldId id="265" r:id="rId19"/>
    <p:sldId id="260" r:id="rId6"/>
    <p:sldId id="266" r:id="rId20"/>
    <p:sldId id="267" r:id="rId21"/>
    <p:sldId id="261" r:id="rId7"/>
    <p:sldId id="268" r:id="rId22"/>
    <p:sldId id="269" r:id="rId23"/>
    <p:sldId id="262" r:id="rId8"/>
    <p:sldId id="263"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jxgbYjccChfboh+PxKghejRKdfE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1F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277F1-729D-4533-9937-95B36D51CB5B}" v="2" dt="2026-08-06T07:05:58.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7.xml"/><Relationship Id="rId7" Type="http://schemas.openxmlformats.org/officeDocument/2006/relationships/slide" Target="slides/slide10.xml"/><Relationship Id="rId8" Type="http://schemas.openxmlformats.org/officeDocument/2006/relationships/slide" Target="slides/slide13.xml"/><Relationship Id="rId9" Type="http://schemas.openxmlformats.org/officeDocument/2006/relationships/slide" Target="slides/slide14.xml"/><Relationship Id="rId10" Type="http://schemas.openxmlformats.org/officeDocument/2006/relationships/notesMaster" Target="notesMasters/notesMaster1.xml"/><Relationship Id="rId11" Type="http://customschemas.google.com/relationships/presentationmetadata" Target="meta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openxmlformats.org/officeDocument/2006/relationships/slide" Target="slides/slide4.xml"/><Relationship Id="rId19" Type="http://schemas.openxmlformats.org/officeDocument/2006/relationships/slide" Target="slides/slide6.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1.xml"/><Relationship Id="rId23"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zza Maira" userId="d0a25a6f-4008-4c86-8740-27856525f3e1" providerId="ADAL" clId="{A44FACB3-3A32-418A-B1D8-F602B668736A}"/>
    <pc:docChg chg="undo custSel addSld modSld">
      <pc:chgData name="Fizza Maira" userId="d0a25a6f-4008-4c86-8740-27856525f3e1" providerId="ADAL" clId="{A44FACB3-3A32-418A-B1D8-F602B668736A}" dt="2026-08-06T07:13:10.115" v="595" actId="1076"/>
      <pc:docMkLst>
        <pc:docMk/>
      </pc:docMkLst>
      <pc:sldChg chg="modSp mod">
        <pc:chgData name="Fizza Maira" userId="d0a25a6f-4008-4c86-8740-27856525f3e1" providerId="ADAL" clId="{A44FACB3-3A32-418A-B1D8-F602B668736A}" dt="2026-08-06T06:56:31.796" v="66" actId="207"/>
        <pc:sldMkLst>
          <pc:docMk/>
          <pc:sldMk cId="0" sldId="256"/>
        </pc:sldMkLst>
        <pc:spChg chg="mod">
          <ac:chgData name="Fizza Maira" userId="d0a25a6f-4008-4c86-8740-27856525f3e1" providerId="ADAL" clId="{A44FACB3-3A32-418A-B1D8-F602B668736A}" dt="2026-08-06T06:56:31.796" v="66" actId="207"/>
          <ac:spMkLst>
            <pc:docMk/>
            <pc:sldMk cId="0" sldId="256"/>
            <ac:spMk id="94" creationId="{00000000-0000-0000-0000-000000000000}"/>
          </ac:spMkLst>
        </pc:spChg>
      </pc:sldChg>
      <pc:sldChg chg="addSp delSp modSp mod">
        <pc:chgData name="Fizza Maira" userId="d0a25a6f-4008-4c86-8740-27856525f3e1" providerId="ADAL" clId="{A44FACB3-3A32-418A-B1D8-F602B668736A}" dt="2026-08-06T06:59:42.372" v="125" actId="1036"/>
        <pc:sldMkLst>
          <pc:docMk/>
          <pc:sldMk cId="0" sldId="257"/>
        </pc:sldMkLst>
        <pc:spChg chg="add mod">
          <ac:chgData name="Fizza Maira" userId="d0a25a6f-4008-4c86-8740-27856525f3e1" providerId="ADAL" clId="{A44FACB3-3A32-418A-B1D8-F602B668736A}" dt="2026-08-06T06:56:48.518" v="69" actId="122"/>
          <ac:spMkLst>
            <pc:docMk/>
            <pc:sldMk cId="0" sldId="257"/>
            <ac:spMk id="3" creationId="{6E5FE501-52FC-9663-175F-EE814939F785}"/>
          </ac:spMkLst>
        </pc:spChg>
        <pc:spChg chg="add mod">
          <ac:chgData name="Fizza Maira" userId="d0a25a6f-4008-4c86-8740-27856525f3e1" providerId="ADAL" clId="{A44FACB3-3A32-418A-B1D8-F602B668736A}" dt="2026-08-06T06:59:42.372" v="125" actId="1036"/>
          <ac:spMkLst>
            <pc:docMk/>
            <pc:sldMk cId="0" sldId="257"/>
            <ac:spMk id="5" creationId="{F18859DA-4EBF-86FB-39DA-CC40AEFAA531}"/>
          </ac:spMkLst>
        </pc:spChg>
        <pc:spChg chg="add del mod">
          <ac:chgData name="Fizza Maira" userId="d0a25a6f-4008-4c86-8740-27856525f3e1" providerId="ADAL" clId="{A44FACB3-3A32-418A-B1D8-F602B668736A}" dt="2026-08-06T06:56:56.706" v="71" actId="478"/>
          <ac:spMkLst>
            <pc:docMk/>
            <pc:sldMk cId="0" sldId="257"/>
            <ac:spMk id="7" creationId="{47ACB267-F7CA-D45F-F1B9-E208296EE326}"/>
          </ac:spMkLst>
        </pc:spChg>
        <pc:spChg chg="add del mod">
          <ac:chgData name="Fizza Maira" userId="d0a25a6f-4008-4c86-8740-27856525f3e1" providerId="ADAL" clId="{A44FACB3-3A32-418A-B1D8-F602B668736A}" dt="2026-08-06T06:56:52.400" v="70" actId="478"/>
          <ac:spMkLst>
            <pc:docMk/>
            <pc:sldMk cId="0" sldId="257"/>
            <ac:spMk id="9" creationId="{8C2CC35A-C1C4-C9E7-86A2-232A1BAC361B}"/>
          </ac:spMkLst>
        </pc:spChg>
      </pc:sldChg>
      <pc:sldChg chg="addSp delSp modSp mod">
        <pc:chgData name="Fizza Maira" userId="d0a25a6f-4008-4c86-8740-27856525f3e1" providerId="ADAL" clId="{A44FACB3-3A32-418A-B1D8-F602B668736A}" dt="2026-08-06T07:07:56.465" v="389" actId="1035"/>
        <pc:sldMkLst>
          <pc:docMk/>
          <pc:sldMk cId="0" sldId="258"/>
        </pc:sldMkLst>
        <pc:spChg chg="add mod">
          <ac:chgData name="Fizza Maira" userId="d0a25a6f-4008-4c86-8740-27856525f3e1" providerId="ADAL" clId="{A44FACB3-3A32-418A-B1D8-F602B668736A}" dt="2026-08-06T07:07:56.465" v="389" actId="1035"/>
          <ac:spMkLst>
            <pc:docMk/>
            <pc:sldMk cId="0" sldId="258"/>
            <ac:spMk id="3" creationId="{9809ED82-7865-1E75-8005-E3EE187972A9}"/>
          </ac:spMkLst>
        </pc:spChg>
        <pc:spChg chg="add del">
          <ac:chgData name="Fizza Maira" userId="d0a25a6f-4008-4c86-8740-27856525f3e1" providerId="ADAL" clId="{A44FACB3-3A32-418A-B1D8-F602B668736A}" dt="2026-08-06T06:57:33.761" v="75" actId="22"/>
          <ac:spMkLst>
            <pc:docMk/>
            <pc:sldMk cId="0" sldId="258"/>
            <ac:spMk id="5" creationId="{8F03CF5C-94F2-6975-E3F3-1B4B69AD5D5D}"/>
          </ac:spMkLst>
        </pc:spChg>
        <pc:spChg chg="add del mod">
          <ac:chgData name="Fizza Maira" userId="d0a25a6f-4008-4c86-8740-27856525f3e1" providerId="ADAL" clId="{A44FACB3-3A32-418A-B1D8-F602B668736A}" dt="2026-08-06T06:58:06.206" v="84" actId="21"/>
          <ac:spMkLst>
            <pc:docMk/>
            <pc:sldMk cId="0" sldId="258"/>
            <ac:spMk id="7" creationId="{22D905D9-AAC5-3957-E29C-1F3E78727844}"/>
          </ac:spMkLst>
        </pc:spChg>
        <pc:spChg chg="add mod">
          <ac:chgData name="Fizza Maira" userId="d0a25a6f-4008-4c86-8740-27856525f3e1" providerId="ADAL" clId="{A44FACB3-3A32-418A-B1D8-F602B668736A}" dt="2026-08-06T07:07:18.056" v="299" actId="12788"/>
          <ac:spMkLst>
            <pc:docMk/>
            <pc:sldMk cId="0" sldId="258"/>
            <ac:spMk id="9" creationId="{73F3F64E-BE4D-D3DF-57D5-BF67AE1E9EDD}"/>
          </ac:spMkLst>
        </pc:spChg>
      </pc:sldChg>
      <pc:sldChg chg="addSp modSp new mod">
        <pc:chgData name="Fizza Maira" userId="d0a25a6f-4008-4c86-8740-27856525f3e1" providerId="ADAL" clId="{A44FACB3-3A32-418A-B1D8-F602B668736A}" dt="2026-08-06T07:08:22.098" v="420" actId="1035"/>
        <pc:sldMkLst>
          <pc:docMk/>
          <pc:sldMk cId="3289224814" sldId="259"/>
        </pc:sldMkLst>
        <pc:spChg chg="add mod">
          <ac:chgData name="Fizza Maira" userId="d0a25a6f-4008-4c86-8740-27856525f3e1" providerId="ADAL" clId="{A44FACB3-3A32-418A-B1D8-F602B668736A}" dt="2026-08-06T07:08:22.098" v="420" actId="1035"/>
          <ac:spMkLst>
            <pc:docMk/>
            <pc:sldMk cId="3289224814" sldId="259"/>
            <ac:spMk id="3" creationId="{31AE4673-2310-7768-CAFE-C71E228846A7}"/>
          </ac:spMkLst>
        </pc:spChg>
        <pc:spChg chg="add mod">
          <ac:chgData name="Fizza Maira" userId="d0a25a6f-4008-4c86-8740-27856525f3e1" providerId="ADAL" clId="{A44FACB3-3A32-418A-B1D8-F602B668736A}" dt="2026-08-06T07:07:48.107" v="348" actId="20577"/>
          <ac:spMkLst>
            <pc:docMk/>
            <pc:sldMk cId="3289224814" sldId="259"/>
            <ac:spMk id="5" creationId="{98CF4003-6B2E-87CF-2817-76889C6135B4}"/>
          </ac:spMkLst>
        </pc:spChg>
      </pc:sldChg>
      <pc:sldChg chg="addSp modSp new mod">
        <pc:chgData name="Fizza Maira" userId="d0a25a6f-4008-4c86-8740-27856525f3e1" providerId="ADAL" clId="{A44FACB3-3A32-418A-B1D8-F602B668736A}" dt="2026-08-06T07:10:21.214" v="482"/>
        <pc:sldMkLst>
          <pc:docMk/>
          <pc:sldMk cId="3987153470" sldId="260"/>
        </pc:sldMkLst>
        <pc:spChg chg="add mod">
          <ac:chgData name="Fizza Maira" userId="d0a25a6f-4008-4c86-8740-27856525f3e1" providerId="ADAL" clId="{A44FACB3-3A32-418A-B1D8-F602B668736A}" dt="2026-08-06T07:09:54.338" v="481" actId="1076"/>
          <ac:spMkLst>
            <pc:docMk/>
            <pc:sldMk cId="3987153470" sldId="260"/>
            <ac:spMk id="3" creationId="{FBE09B85-CBAA-6E41-F9C1-5D0C62D32631}"/>
          </ac:spMkLst>
        </pc:spChg>
        <pc:spChg chg="add mod">
          <ac:chgData name="Fizza Maira" userId="d0a25a6f-4008-4c86-8740-27856525f3e1" providerId="ADAL" clId="{A44FACB3-3A32-418A-B1D8-F602B668736A}" dt="2026-08-06T07:10:21.214" v="482"/>
          <ac:spMkLst>
            <pc:docMk/>
            <pc:sldMk cId="3987153470" sldId="260"/>
            <ac:spMk id="5" creationId="{E2D08B99-26E8-96E3-B453-DEED97ED3C1F}"/>
          </ac:spMkLst>
        </pc:spChg>
      </pc:sldChg>
      <pc:sldChg chg="addSp modSp new mod">
        <pc:chgData name="Fizza Maira" userId="d0a25a6f-4008-4c86-8740-27856525f3e1" providerId="ADAL" clId="{A44FACB3-3A32-418A-B1D8-F602B668736A}" dt="2026-08-06T07:11:25.705" v="519" actId="1076"/>
        <pc:sldMkLst>
          <pc:docMk/>
          <pc:sldMk cId="684907484" sldId="261"/>
        </pc:sldMkLst>
        <pc:spChg chg="add mod">
          <ac:chgData name="Fizza Maira" userId="d0a25a6f-4008-4c86-8740-27856525f3e1" providerId="ADAL" clId="{A44FACB3-3A32-418A-B1D8-F602B668736A}" dt="2026-08-06T07:11:25.705" v="519" actId="1076"/>
          <ac:spMkLst>
            <pc:docMk/>
            <pc:sldMk cId="684907484" sldId="261"/>
            <ac:spMk id="3" creationId="{F6631922-EDA2-CA93-9A0A-C814D5C410DE}"/>
          </ac:spMkLst>
        </pc:spChg>
        <pc:spChg chg="add mod">
          <ac:chgData name="Fizza Maira" userId="d0a25a6f-4008-4c86-8740-27856525f3e1" providerId="ADAL" clId="{A44FACB3-3A32-418A-B1D8-F602B668736A}" dt="2026-08-06T07:10:54.305" v="515"/>
          <ac:spMkLst>
            <pc:docMk/>
            <pc:sldMk cId="684907484" sldId="261"/>
            <ac:spMk id="5" creationId="{BC92D5CD-CEED-CAF9-8E1C-650675A313C3}"/>
          </ac:spMkLst>
        </pc:spChg>
      </pc:sldChg>
      <pc:sldChg chg="addSp modSp new mod">
        <pc:chgData name="Fizza Maira" userId="d0a25a6f-4008-4c86-8740-27856525f3e1" providerId="ADAL" clId="{A44FACB3-3A32-418A-B1D8-F602B668736A}" dt="2026-08-06T07:12:09.100" v="557" actId="1076"/>
        <pc:sldMkLst>
          <pc:docMk/>
          <pc:sldMk cId="2040043498" sldId="262"/>
        </pc:sldMkLst>
        <pc:spChg chg="add mod">
          <ac:chgData name="Fizza Maira" userId="d0a25a6f-4008-4c86-8740-27856525f3e1" providerId="ADAL" clId="{A44FACB3-3A32-418A-B1D8-F602B668736A}" dt="2026-08-06T07:12:09.100" v="557" actId="1076"/>
          <ac:spMkLst>
            <pc:docMk/>
            <pc:sldMk cId="2040043498" sldId="262"/>
            <ac:spMk id="3" creationId="{158013A2-70CA-8E35-F3F3-F40CD428166B}"/>
          </ac:spMkLst>
        </pc:spChg>
        <pc:spChg chg="add mod">
          <ac:chgData name="Fizza Maira" userId="d0a25a6f-4008-4c86-8740-27856525f3e1" providerId="ADAL" clId="{A44FACB3-3A32-418A-B1D8-F602B668736A}" dt="2026-08-06T07:11:53.354" v="555"/>
          <ac:spMkLst>
            <pc:docMk/>
            <pc:sldMk cId="2040043498" sldId="262"/>
            <ac:spMk id="5" creationId="{688822D8-D529-2998-D46B-41BB9F87B091}"/>
          </ac:spMkLst>
        </pc:spChg>
      </pc:sldChg>
      <pc:sldChg chg="addSp modSp new mod">
        <pc:chgData name="Fizza Maira" userId="d0a25a6f-4008-4c86-8740-27856525f3e1" providerId="ADAL" clId="{A44FACB3-3A32-418A-B1D8-F602B668736A}" dt="2026-08-06T07:13:10.115" v="595" actId="1076"/>
        <pc:sldMkLst>
          <pc:docMk/>
          <pc:sldMk cId="3937486198" sldId="263"/>
        </pc:sldMkLst>
        <pc:spChg chg="add mod">
          <ac:chgData name="Fizza Maira" userId="d0a25a6f-4008-4c86-8740-27856525f3e1" providerId="ADAL" clId="{A44FACB3-3A32-418A-B1D8-F602B668736A}" dt="2026-08-06T07:13:10.115" v="595" actId="1076"/>
          <ac:spMkLst>
            <pc:docMk/>
            <pc:sldMk cId="3937486198" sldId="263"/>
            <ac:spMk id="3" creationId="{460254CD-0903-966C-40EF-C5EBA490158C}"/>
          </ac:spMkLst>
        </pc:spChg>
        <pc:spChg chg="add mod">
          <ac:chgData name="Fizza Maira" userId="d0a25a6f-4008-4c86-8740-27856525f3e1" providerId="ADAL" clId="{A44FACB3-3A32-418A-B1D8-F602B668736A}" dt="2026-08-06T07:12:49.659" v="592"/>
          <ac:spMkLst>
            <pc:docMk/>
            <pc:sldMk cId="3937486198" sldId="263"/>
            <ac:spMk id="5" creationId="{7FE4D497-87C5-39D6-FAF0-4FE272E0EB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Good morning. I'm Adeola Adeoti, and this is the Research Paper Navigator — a retrieval-augmented question-answering system over 153 computer science research papers. The code and every result I'll show you are in the repository on screen. I want to spend most of this talk not on what I built, but on what happened when I measured it, because the measurements disagreed with me twice.</a:t>
            </a: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The intended user is a researcher who already has the papers and cannot read all of them. The important thing here is the last line. The hard requirement is not that the system answers well — it's that it never invents a source. That requirement shapes every design decision that follows, and as you'll see, it also creates the vulnerability that took me longest to find.</a:t>
            </a: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These three shaped the architecture. The first needs one retrieval. The second needs two retrievals and a synthesis — no amount of keyword search finds a comparison that nobody wrote down. The third needs a graph, because the relationship between two papers is not in the text of either one. Routing matters because the three cost very different amounts.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Top row is the request path. A question is sanitised, routed, answered, and validated. The two green boxes are defences, with their measured results attached. Bottom left is hybrid retrieval — BM25 and dense vectors, fused. Bottom right is the paper graph: 137 papers, 482 relationships, built once from the PDFs. The planner may call four tools; two search, two traverse the graph. Note the figure in purple: the planner is 62 percent of all tokens. Remember that number.</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That last point is the one I'd defend hardest. It is tempting to tune the fusion weights until the evaluation score goes up. I measured first and found that score magnitudes in this system are not comparable across queries — so a weight that improves the 12-item set is fitting that set, not improving retrieval. Equal weighting is the honest default when you cannot tell the difference.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Two things worth pausing on. First, the judge is pinned — early on I had a model grading its own answers, which is not evaluation. Second, sample size. I spent most of this project running n=5 and reading zeros. A thirty-percent failure rate shows up as zero in five trials about seventeen percent of the time. Three of my clean results were simply underpowered, and the one that mattered most was hiding there.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Five attacks across the top, the four arms in the matrix. Two rows are red. P2 is a forged document pasted into the question; the answer treated it as a real source 15 percent of the time. P5 crashed the planner's JSON in 30 percent of trials — and a crashed planner falls through to answering with nothing gathered. Look at the hardened column on P2: twenty percent, which is worse than baseline. The prompt I had called 'hardened' made that attack more effective, not less.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first and second lines are in tension, and that tension is the heart of this system. The money is in the planner. The savings are in using cheaper models. But the cheap model is the one that crashes. The last line is a limitation I want to state plainly rather than bury: I know a simple query is 58 percent cheaper. I do not know how many real queries are simple. A percentage without a denominator is not a result.</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slide I'd most like to be asked about. I wrote a citation validator and a fail-closed guard. They pass their own regression tests — seven out of seven on labelled cases. I assumed they were why the production configuration was safe. The fourth arm switches them off and changes nothing, which means the improvement came entirely from how the prompt labels where text came from. I built the arm expecting it to confirm my design. It refuted it.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second one explains why the hardened prompt failed. To stop hallucination I tell the model to trust the retrieved context and nothing else. The forgery attack works by looking like retrieved context. Emphasising the instruction harder makes the model more obedient to the forgery, which is why hardened scored worse. The fix was not more emphasis — it was labelling the boundary, so 'trust the corpus' stopped meaning 'trust anything shaped like the corpus'.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I'm including this slide deliberately. An audit that finds nothing wrong with its own tools has probably not looked at them. Every one of these four made the system appear safer, which is the direction you would expect from a person grading their own work. The second one is the serious one — it hid a thirty percent failure rate for weeks, because a crash produced no verdict and my harness counted 'no verdict' as 'held'. I also threw away three test sets of my own for flattering the designs they tested.</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Priority order is deliberate. Everything else assumes the defences hold, and right now they hold because of wording that a provider-side model update could silently change. The second point is the one most likely to be wrong in the field: an attacker writes attacks I did not think of. And nothing here is monitored — every number in this talk came from me running a script by hand.</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Repository has the full code, the frozen logs for every checkpoint, and a script that recomputes every statistic in this talk from the raw data. Happy to take questions.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15"/>
        <p:cNvGrpSpPr/>
        <p:nvPr/>
      </p:nvGrpSpPr>
      <p:grpSpPr>
        <a:xfrm>
          <a:off x="0" y="0"/>
          <a:ext cx="0" cy="0"/>
          <a:chOff x="0" y="0"/>
          <a:chExt cx="0" cy="0"/>
        </a:xfrm>
      </p:grpSpPr>
      <p:pic>
        <p:nvPicPr>
          <p:cNvPr id="16" name="Google Shape;16;p5"/>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7" name="Google Shape;17;p5"/>
          <p:cNvPicPr preferRelativeResize="0"/>
          <p:nvPr/>
        </p:nvPicPr>
        <p:blipFill rotWithShape="1">
          <a:blip r:embed="rId3">
            <a:alphaModFix/>
          </a:blip>
          <a:srcRect/>
          <a:stretch/>
        </p:blipFill>
        <p:spPr>
          <a:xfrm>
            <a:off x="0" y="4419600"/>
            <a:ext cx="12192000" cy="2438400"/>
          </a:xfrm>
          <a:prstGeom prst="rect">
            <a:avLst/>
          </a:prstGeom>
          <a:noFill/>
          <a:ln>
            <a:noFill/>
          </a:ln>
        </p:spPr>
      </p:pic>
      <p:pic>
        <p:nvPicPr>
          <p:cNvPr id="18" name="Google Shape;18;p5"/>
          <p:cNvPicPr preferRelativeResize="0"/>
          <p:nvPr/>
        </p:nvPicPr>
        <p:blipFill rotWithShape="1">
          <a:blip r:embed="rId4">
            <a:alphaModFix/>
          </a:blip>
          <a:srcRect/>
          <a:stretch/>
        </p:blipFill>
        <p:spPr>
          <a:xfrm>
            <a:off x="9830830" y="3686830"/>
            <a:ext cx="1905000" cy="52230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5_Blank">
  <p:cSld name="5_Blank">
    <p:spTree>
      <p:nvGrpSpPr>
        <p:cNvPr id="1" name="Shape 19"/>
        <p:cNvGrpSpPr/>
        <p:nvPr/>
      </p:nvGrpSpPr>
      <p:grpSpPr>
        <a:xfrm>
          <a:off x="0" y="0"/>
          <a:ext cx="0" cy="0"/>
          <a:chOff x="0" y="0"/>
          <a:chExt cx="0" cy="0"/>
        </a:xfrm>
      </p:grpSpPr>
      <p:pic>
        <p:nvPicPr>
          <p:cNvPr id="20" name="Google Shape;20;p6"/>
          <p:cNvPicPr preferRelativeResize="0"/>
          <p:nvPr/>
        </p:nvPicPr>
        <p:blipFill rotWithShape="1">
          <a:blip r:embed="rId2">
            <a:alphaModFix/>
          </a:blip>
          <a:srcRect/>
          <a:stretch/>
        </p:blipFill>
        <p:spPr>
          <a:xfrm>
            <a:off x="10797369" y="6362197"/>
            <a:ext cx="960461" cy="372478"/>
          </a:xfrm>
          <a:prstGeom prst="rect">
            <a:avLst/>
          </a:prstGeom>
          <a:noFill/>
          <a:ln>
            <a:noFill/>
          </a:ln>
        </p:spPr>
      </p:pic>
      <p:pic>
        <p:nvPicPr>
          <p:cNvPr id="21" name="Google Shape;21;p6"/>
          <p:cNvPicPr preferRelativeResize="0"/>
          <p:nvPr/>
        </p:nvPicPr>
        <p:blipFill rotWithShape="1">
          <a:blip r:embed="rId3">
            <a:alphaModFix/>
          </a:blip>
          <a:srcRect/>
          <a:stretch/>
        </p:blipFill>
        <p:spPr>
          <a:xfrm>
            <a:off x="0" y="0"/>
            <a:ext cx="12192000" cy="7143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156">
          <p15:clr>
            <a:srgbClr val="FBAE40"/>
          </p15:clr>
        </p15:guide>
        <p15:guide id="2" pos="751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_Blank">
  <p:cSld name="7_Blank">
    <p:spTree>
      <p:nvGrpSpPr>
        <p:cNvPr id="1" name="Shape 22"/>
        <p:cNvGrpSpPr/>
        <p:nvPr/>
      </p:nvGrpSpPr>
      <p:grpSpPr>
        <a:xfrm>
          <a:off x="0" y="0"/>
          <a:ext cx="0" cy="0"/>
          <a:chOff x="0" y="0"/>
          <a:chExt cx="0" cy="0"/>
        </a:xfrm>
      </p:grpSpPr>
      <p:pic>
        <p:nvPicPr>
          <p:cNvPr id="23" name="Google Shape;23;p7"/>
          <p:cNvPicPr preferRelativeResize="0"/>
          <p:nvPr/>
        </p:nvPicPr>
        <p:blipFill rotWithShape="1">
          <a:blip r:embed="rId2">
            <a:alphaModFix amt="5000"/>
          </a:blip>
          <a:srcRect/>
          <a:stretch/>
        </p:blipFill>
        <p:spPr>
          <a:xfrm>
            <a:off x="3976469" y="2607021"/>
            <a:ext cx="4239062" cy="164395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156">
          <p15:clr>
            <a:srgbClr val="FBAE40"/>
          </p15:clr>
        </p15:guide>
        <p15:guide id="2" pos="751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1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3"/>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7" name="Google Shape;67;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6"/>
          <p:cNvSpPr>
            <a:spLocks noGrp="1"/>
          </p:cNvSpPr>
          <p:nvPr>
            <p:ph type="pic" idx="2"/>
          </p:nvPr>
        </p:nvSpPr>
        <p:spPr>
          <a:xfrm>
            <a:off x="5183188" y="987425"/>
            <a:ext cx="6172200" cy="4873625"/>
          </a:xfrm>
          <a:prstGeom prst="rect">
            <a:avLst/>
          </a:prstGeom>
          <a:noFill/>
          <a:ln>
            <a:noFill/>
          </a:ln>
        </p:spPr>
      </p:sp>
      <p:sp>
        <p:nvSpPr>
          <p:cNvPr id="74" name="Google Shape;74;p1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93"/>
        <p:cNvGrpSpPr/>
        <p:nvPr/>
      </p:nvGrpSpPr>
      <p:grpSpPr>
        <a:xfrm>
          <a:off x="0" y="0"/>
          <a:ext cx="0" cy="0"/>
          <a:chOff x="0" y="0"/>
          <a:chExt cx="0" cy="0"/>
        </a:xfrm>
      </p:grpSpPr>
      <p:sp>
        <p:nvSpPr>
          <p:cNvPr id="94" name="Google Shape;94;p1"/>
          <p:cNvSpPr txBox="1"/>
          <p:nvPr/>
        </p:nvSpPr>
        <p:spPr>
          <a:xfrm>
            <a:off x="261257" y="5321712"/>
            <a:ext cx="10896599" cy="523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IN" sz="2800" b="1" i="0" u="none" strike="noStrike" cap="none" dirty="0">
                <a:solidFill>
                  <a:schemeClr val="bg1"/>
                </a:solidFill>
                <a:latin typeface="Calibri"/>
                <a:ea typeface="Calibri"/>
                <a:cs typeface="Calibri"/>
                <a:sym typeface="Calibri"/>
              </a:rPr>
              <a:t>Capstone</a:t>
            </a:r>
            <a:r>
              <a:rPr lang="en-IN" sz="2800" b="1" i="0" u="none" strike="noStrike" cap="none" dirty="0">
                <a:solidFill>
                  <a:schemeClr val="lt1"/>
                </a:solidFill>
                <a:latin typeface="Calibri"/>
                <a:ea typeface="Calibri"/>
                <a:cs typeface="Calibri"/>
                <a:sym typeface="Calibri"/>
              </a:rPr>
              <a:t> Design Review Presentation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p:nvPr/>
        </p:nvSpPr>
        <p:spPr>
          <a:xfrm>
            <a:off x="291078" y="1298425"/>
            <a:ext cx="116097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IN" sz="2800" b="0" i="0" u="none" strike="noStrike" cap="none">
                <a:solidFill>
                  <a:schemeClr val="lt1"/>
                </a:solidFill>
                <a:latin typeface="Calibri"/>
                <a:ea typeface="Calibri"/>
                <a:cs typeface="Calibri"/>
                <a:sym typeface="Calibri"/>
              </a:rPr>
              <a:t/>
            </a: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6E5FE501-52FC-9663-175F-EE814939F785}"/>
              </a:ext>
            </a:extLst>
          </p:cNvPr>
          <p:cNvSpPr txBox="1"/>
          <p:nvPr/>
        </p:nvSpPr>
        <p:spPr>
          <a:xfrm>
            <a:off x="859972" y="2488225"/>
            <a:ext cx="10472057" cy="1369606"/>
          </a:xfrm>
          <a:prstGeom prst="rect">
            <a:avLst/>
          </a:prstGeom>
          <a:noFill/>
        </p:spPr>
        <p:txBody>
          <a:bodyPr wrap="square">
            <a:spAutoFit/>
          </a:bodyPr>
          <a:lstStyle>
            <a:defPPr marR="0" lvl="0" algn="l" rtl="0">
              <a:lnSpc>
                <a:spcPct val="100000"/>
              </a:lnSpc>
              <a:spcBef>
                <a:spcPts val="0"/>
              </a:spcBef>
              <a:spcAft>
                <a:spcPts val="0"/>
              </a:spcAft>
            </a:defPPr>
            <a:lvl1pPr>
              <a:defRPr sz="2800" b="1">
                <a:solidFill>
                  <a:srgbClr val="A31F34"/>
                </a:solidFill>
                <a:latin typeface="Calibri"/>
                <a:ea typeface="Calibri"/>
                <a:cs typeface="Calibri"/>
              </a:defRPr>
            </a:lvl1pPr>
          </a:lstStyle>
          <a:p>
            <a:pPr algn="ctr"/>
            <a:r>
              <a:rPr lang="en-IN" dirty="0"/>
              <a:t>Designing and Evaluating a Retrieval-Augmented LLM System</a:t>
            </a:r>
          </a:p>
          <a:p>
            <a:pPr algn="ctr"/>
            <a:r>
              <a:rPr lang="en-IN" dirty="0"/>
              <a:t>Adeola Adeoti  |  Research Paper Navigator</a:t>
            </a:r>
          </a:p>
          <a:p>
            <a:endParaRPr lang="en-IN" dirty="0"/>
          </a:p>
        </p:txBody>
      </p:sp>
      <p:sp>
        <p:nvSpPr>
          <p:cNvPr id="5" name="TextBox 4">
            <a:extLst>
              <a:ext uri="{FF2B5EF4-FFF2-40B4-BE49-F238E27FC236}">
                <a16:creationId xmlns:a16="http://schemas.microsoft.com/office/drawing/2014/main" id="{F18859DA-4EBF-86FB-39DA-CC40AEFAA531}"/>
              </a:ext>
            </a:extLst>
          </p:cNvPr>
          <p:cNvSpPr txBox="1"/>
          <p:nvPr/>
        </p:nvSpPr>
        <p:spPr>
          <a:xfrm>
            <a:off x="850434" y="4692555"/>
            <a:ext cx="9305938" cy="1015663"/>
          </a:xfrm>
          <a:prstGeom prst="rect">
            <a:avLst/>
          </a:prstGeom>
          <a:noFill/>
        </p:spPr>
        <p:txBody>
          <a:bodyPr wrap="square">
            <a:spAutoFit/>
          </a:bodyPr>
          <a:lstStyle/>
          <a:p>
            <a:pPr rtl="0">
              <a:buNone/>
            </a:pPr>
            <a:r>
              <a:rPr lang="en-IN" sz="20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Repository:  </a:t>
            </a:r>
            <a:r>
              <a:rPr lang="en-IN" sz="2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github.com/deolly/research-paper-navigator</a:t>
            </a:r>
            <a:endParaRPr lang="en-IN" sz="2000" b="0"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3" name="TextBox 2">
            <a:extLst>
              <a:ext uri="{FF2B5EF4-FFF2-40B4-BE49-F238E27FC236}">
                <a16:creationId xmlns:a16="http://schemas.microsoft.com/office/drawing/2014/main" id="{9809ED82-7865-1E75-8005-E3EE187972A9}"/>
              </a:ext>
            </a:extLst>
          </p:cNvPr>
          <p:cNvSpPr txBox="1"/>
          <p:nvPr/>
        </p:nvSpPr>
        <p:spPr>
          <a:xfrm>
            <a:off x="704088" y="1490472"/>
            <a:ext cx="10789920" cy="4800600"/>
          </a:xfrm>
          <a:prstGeom prst="rect">
            <a:avLst/>
          </a:prstGeom>
          <a:noFill/>
        </p:spPr>
        <p:txBody>
          <a:bodyPr wrap="square">
            <a:spAutoFit/>
          </a:bodyPr>
          <a:lstStyle>
            <a:defPPr marR="0" lvl="0" algn="l" rtl="0">
              <a:lnSpc>
                <a:spcPct val="100000"/>
              </a:lnSpc>
              <a:spcBef>
                <a:spcPts val="0"/>
              </a:spcBef>
              <a:spcAft>
                <a:spcPts val="0"/>
              </a:spcAft>
              <a:defRPr/>
            </a:defPPr>
            <a:lvl1pPr algn="ctr">
              <a:defRPr sz="2800" b="1">
                <a:solidFill>
                  <a:srgbClr val="A31F34"/>
                </a:solidFill>
                <a:latin typeface="Calibri"/>
                <a:ea typeface="Calibri"/>
                <a:cs typeface="Calibri"/>
              </a:defRPr>
            </a:lvl1pPr>
          </a:lstStyle>
          <a:p>
            <a:pPr marL="285750" indent="-285750" algn="l">
              <a:buFont typeface="Arial" panose="020B0604020202020204" pitchFamily="34" charset="0"/>
              <a:buChar char="•"/>
            </a:pPr>
            <a:r>
              <a:rPr lang="en-IN" sz="2000" b="0" dirty="0">
                <a:solidFill>
                  <a:schemeClr val="tx1"/>
                </a:solidFill>
              </a:rPr>
              <a:t>153 research papers on program synthesis. The questions a researcher asks are about what the papers say.</a:t>
            </a:r>
          </a:p>
          <a:p>
            <a:pPr marL="285750" indent="-285750" algn="l">
              <a:buFont typeface="Arial" panose="020B0604020202020204" pitchFamily="34" charset="0"/>
              <a:buChar char="•"/>
            </a:pPr>
            <a:r>
              <a:rPr lang="en-IN" sz="2000" b="0" dirty="0">
                <a:solidFill>
                  <a:schemeClr val="tx1"/>
                </a:solidFill>
              </a:rPr>
              <a:t>Keyword search returns documents. It cannot answer across papers, and it cannot follow a citation.</a:t>
            </a:r>
          </a:p>
          <a:p>
            <a:pPr marL="285750" indent="-285750" algn="l">
              <a:buFont typeface="Arial" panose="020B0604020202020204" pitchFamily="34" charset="0"/>
              <a:buChar char="•"/>
            </a:pPr>
            <a:r>
              <a:rPr lang="en-IN" sz="2000" b="0" dirty="0">
                <a:solidFill>
                  <a:schemeClr val="tx1"/>
                </a:solidFill>
              </a:rPr>
              <a:t>An LLM on its own answers from memory and invents a plausible-looking citation.</a:t>
            </a:r>
          </a:p>
          <a:p>
            <a:pPr marL="285750" indent="-285750" algn="l">
              <a:buFont typeface="Arial" panose="020B0604020202020204" pitchFamily="34" charset="0"/>
              <a:buChar char="•"/>
            </a:pPr>
            <a:r>
              <a:rPr lang="en-IN" sz="2000" b="0" dirty="0">
                <a:solidFill>
                  <a:schemeClr val="tx1"/>
                </a:solidFill>
              </a:rPr>
              <a:t>So the system must ground every claim in a retrieved paper — or refuse to answer at all.</a:t>
            </a:r>
          </a:p>
        </p:txBody>
      </p:sp>
      <p:sp>
        <p:nvSpPr>
          <p:cNvPr id="9" name="TextBox 8">
            <a:extLst>
              <a:ext uri="{FF2B5EF4-FFF2-40B4-BE49-F238E27FC236}">
                <a16:creationId xmlns:a16="http://schemas.microsoft.com/office/drawing/2014/main" id="{73F3F64E-BE4D-D3DF-57D5-BF67AE1E9EDD}"/>
              </a:ext>
            </a:extLst>
          </p:cNvPr>
          <p:cNvSpPr txBox="1"/>
          <p:nvPr/>
        </p:nvSpPr>
        <p:spPr>
          <a:xfrm>
            <a:off x="704088" y="608112"/>
            <a:ext cx="1078992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The Problem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3" name="TextBox 2">
            <a:extLst>
              <a:ext uri="{FF2B5EF4-FFF2-40B4-BE49-F238E27FC236}">
                <a16:creationId xmlns:a16="http://schemas.microsoft.com/office/drawing/2014/main" id="{9809ED82-7865-1E75-8005-E3EE187972A9}"/>
              </a:ext>
            </a:extLst>
          </p:cNvPr>
          <p:cNvSpPr txBox="1"/>
          <p:nvPr/>
        </p:nvSpPr>
        <p:spPr>
          <a:xfrm>
            <a:off x="704088" y="1490472"/>
            <a:ext cx="10789920" cy="4800600"/>
          </a:xfrm>
          <a:prstGeom prst="rect">
            <a:avLst/>
          </a:prstGeom>
          <a:noFill/>
        </p:spPr>
        <p:txBody>
          <a:bodyPr wrap="square">
            <a:spAutoFit/>
          </a:bodyPr>
          <a:lstStyle>
            <a:defPPr marR="0" lvl="0" algn="l" rtl="0">
              <a:lnSpc>
                <a:spcPct val="100000"/>
              </a:lnSpc>
              <a:spcBef>
                <a:spcPts val="0"/>
              </a:spcBef>
              <a:spcAft>
                <a:spcPts val="0"/>
              </a:spcAft>
              <a:defRPr/>
            </a:defPPr>
            <a:lvl1pPr algn="ctr">
              <a:defRPr sz="2800" b="1">
                <a:solidFill>
                  <a:srgbClr val="A31F34"/>
                </a:solidFill>
                <a:latin typeface="Calibri"/>
                <a:ea typeface="Calibri"/>
                <a:cs typeface="Calibri"/>
              </a:defRPr>
            </a:lvl1pPr>
          </a:lstStyle>
          <a:p>
            <a:pPr marL="285750" indent="-285750" algn="l">
              <a:buFont typeface="Arial" panose="020B0604020202020204" pitchFamily="34" charset="0"/>
              <a:buChar char="•"/>
            </a:pPr>
            <a:r>
              <a:rPr lang="en-IN" sz="2000" b="0" dirty="0">
                <a:solidFill>
                  <a:schemeClr val="tx1"/>
                </a:solidFill>
              </a:rPr>
              <a:t>“What is a sketch in program synthesis?”  —  one paper, one definition. Search handles this fine.</a:t>
            </a:r>
          </a:p>
          <a:p>
            <a:pPr marL="285750" indent="-285750" algn="l">
              <a:buFont typeface="Arial" panose="020B0604020202020204" pitchFamily="34" charset="0"/>
              <a:buChar char="•"/>
            </a:pPr>
            <a:r>
              <a:rPr lang="en-IN" sz="2000" b="0" dirty="0">
                <a:solidFill>
                  <a:schemeClr val="tx1"/>
                </a:solidFill>
              </a:rPr>
              <a:t>“How does sketching differ from DreamCoder?”  —  the answer exists in no single paper.</a:t>
            </a:r>
          </a:p>
          <a:p>
            <a:pPr marL="285750" indent="-285750" algn="l">
              <a:buFont typeface="Arial" panose="020B0604020202020204" pitchFamily="34" charset="0"/>
              <a:buChar char="•"/>
            </a:pPr>
            <a:r>
              <a:rPr lang="en-IN" sz="2000" b="0" dirty="0">
                <a:solidFill>
                  <a:schemeClr val="tx1"/>
                </a:solidFill>
              </a:rPr>
              <a:t>“What earlier work does Stitch build on?”  —  needs the citation links between papers.</a:t>
            </a:r>
          </a:p>
          <a:p>
            <a:pPr marL="285750" indent="-285750" algn="l">
              <a:buFont typeface="Arial" panose="020B0604020202020204" pitchFamily="34" charset="0"/>
              <a:buChar char="•"/>
            </a:pPr>
            <a:r>
              <a:rPr lang="en-IN" sz="2000" b="0" dirty="0">
                <a:solidFill>
                  <a:schemeClr val="tx1"/>
                </a:solidFill>
              </a:rPr>
              <a:t>Each question is routed to the cheapest path that can actually answer it.</a:t>
            </a:r>
          </a:p>
        </p:txBody>
      </p:sp>
      <p:sp>
        <p:nvSpPr>
          <p:cNvPr id="9" name="TextBox 8">
            <a:extLst>
              <a:ext uri="{FF2B5EF4-FFF2-40B4-BE49-F238E27FC236}">
                <a16:creationId xmlns:a16="http://schemas.microsoft.com/office/drawing/2014/main" id="{73F3F64E-BE4D-D3DF-57D5-BF67AE1E9EDD}"/>
              </a:ext>
            </a:extLst>
          </p:cNvPr>
          <p:cNvSpPr txBox="1"/>
          <p:nvPr/>
        </p:nvSpPr>
        <p:spPr>
          <a:xfrm>
            <a:off x="704088" y="608112"/>
            <a:ext cx="1078992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Three kinds of question, only one of them easy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8CF4003-6B2E-87CF-2817-76889C6135B4}"/>
              </a:ext>
            </a:extLst>
          </p:cNvPr>
          <p:cNvSpPr txBox="1"/>
          <p:nvPr/>
        </p:nvSpPr>
        <p:spPr>
          <a:xfrm>
            <a:off x="704088" y="608112"/>
            <a:ext cx="1078992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The Solution</a:t>
            </a:r>
          </a:p>
        </p:txBody>
      </p:sp>
      <p:pic>
        <p:nvPicPr>
          <p:cNvPr id="6" name="Picture 5" descr="architecture_slide.png"/>
          <p:cNvPicPr>
            <a:picLocks noChangeAspect="1"/>
          </p:cNvPicPr>
          <p:nvPr/>
        </p:nvPicPr>
        <p:blipFill>
          <a:blip r:embed="rId2"/>
          <a:stretch>
            <a:fillRect/>
          </a:stretch>
        </p:blipFill>
        <p:spPr>
          <a:xfrm>
            <a:off x="655304" y="1371600"/>
            <a:ext cx="10881360" cy="5032629"/>
          </a:xfrm>
          <a:prstGeom prst="rect">
            <a:avLst/>
          </a:prstGeom>
        </p:spPr>
      </p:pic>
    </p:spTree>
    <p:extLst>
      <p:ext uri="{BB962C8B-B14F-4D97-AF65-F5344CB8AC3E}">
        <p14:creationId xmlns:p14="http://schemas.microsoft.com/office/powerpoint/2010/main" val="3289224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AE4673-2310-7768-CAFE-C71E228846A7}"/>
              </a:ext>
            </a:extLst>
          </p:cNvPr>
          <p:cNvSpPr txBox="1"/>
          <p:nvPr/>
        </p:nvSpPr>
        <p:spPr>
          <a:xfrm>
            <a:off x="704088" y="1490472"/>
            <a:ext cx="10789920" cy="4800600"/>
          </a:xfrm>
          <a:prstGeom prst="rect">
            <a:avLst/>
          </a:prstGeom>
          <a:noFill/>
        </p:spPr>
        <p:txBody>
          <a:bodyPr wrap="square">
            <a:spAutoFit/>
          </a:bodyPr>
          <a:lstStyle>
            <a:defPPr marR="0" lvl="0" algn="l" rtl="0">
              <a:lnSpc>
                <a:spcPct val="100000"/>
              </a:lnSpc>
              <a:spcBef>
                <a:spcPts val="0"/>
              </a:spcBef>
              <a:spcAft>
                <a:spcPts val="0"/>
              </a:spcAft>
              <a:defRPr/>
            </a:defPPr>
            <a:lvl1pPr algn="ctr">
              <a:defRPr sz="2800" b="1">
                <a:solidFill>
                  <a:srgbClr val="A31F34"/>
                </a:solidFill>
                <a:latin typeface="Calibri"/>
                <a:ea typeface="Calibri"/>
                <a:cs typeface="Calibri"/>
              </a:defRPr>
            </a:lvl1pPr>
          </a:lstStyle>
          <a:p>
            <a:pPr marL="285750" indent="-285750" algn="l">
              <a:buFont typeface="Arial" panose="020B0604020202020204" pitchFamily="34" charset="0"/>
              <a:buChar char="•"/>
            </a:pPr>
            <a:r>
              <a:rPr lang="en-US" sz="2000" b="0" dirty="0">
                <a:solidFill>
                  <a:schemeClr val="tx1"/>
                </a:solidFill>
              </a:rPr>
              <a:t>BM25 catches exact terms. Dense vectors catch paraphrase. Neither one alone is enough.</a:t>
            </a:r>
          </a:p>
          <a:p>
            <a:pPr marL="285750" indent="-285750" algn="l">
              <a:buFont typeface="Arial" panose="020B0604020202020204" pitchFamily="34" charset="0"/>
              <a:buChar char="•"/>
            </a:pPr>
            <a:r>
              <a:rPr lang="en-US" sz="2000" b="0" dirty="0">
                <a:solidFill>
                  <a:schemeClr val="tx1"/>
                </a:solidFill>
              </a:rPr>
              <a:t>The two score scales are not comparable, so each list is min–max normalised, then fused 0.5 / 0.5.</a:t>
            </a:r>
          </a:p>
          <a:p>
            <a:pPr marL="285750" indent="-285750" algn="l">
              <a:buFont typeface="Arial" panose="020B0604020202020204" pitchFamily="34" charset="0"/>
              <a:buChar char="•"/>
            </a:pPr>
            <a:r>
              <a:rPr lang="en-US" sz="2000" b="0" dirty="0">
                <a:solidFill>
                  <a:schemeClr val="tx1"/>
                </a:solidFill>
              </a:rPr>
              <a:t>A cap of 2 chunks per paper stops one verbose paper from filling the whole context window.</a:t>
            </a:r>
          </a:p>
          <a:p>
            <a:pPr marL="285750" indent="-285750" algn="l">
              <a:buFont typeface="Arial" panose="020B0604020202020204" pitchFamily="34" charset="0"/>
              <a:buChar char="•"/>
            </a:pPr>
            <a:r>
              <a:rPr lang="en-US" sz="2000" b="0" dirty="0">
                <a:solidFill>
                  <a:schemeClr val="tx1"/>
                </a:solidFill>
              </a:rPr>
              <a:t>The weights are untuned on purpose — checkpoint 3.1 showed that tuning on 12 items fits noise.</a:t>
            </a:r>
          </a:p>
        </p:txBody>
      </p:sp>
      <p:sp>
        <p:nvSpPr>
          <p:cNvPr id="5" name="TextBox 4">
            <a:extLst>
              <a:ext uri="{FF2B5EF4-FFF2-40B4-BE49-F238E27FC236}">
                <a16:creationId xmlns:a16="http://schemas.microsoft.com/office/drawing/2014/main" id="{98CF4003-6B2E-87CF-2817-76889C6135B4}"/>
              </a:ext>
            </a:extLst>
          </p:cNvPr>
          <p:cNvSpPr txBox="1"/>
          <p:nvPr/>
        </p:nvSpPr>
        <p:spPr>
          <a:xfrm>
            <a:off x="704088" y="608112"/>
            <a:ext cx="1078992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Retrieval strategy</a:t>
            </a:r>
          </a:p>
        </p:txBody>
      </p:sp>
    </p:spTree>
    <p:extLst>
      <p:ext uri="{BB962C8B-B14F-4D97-AF65-F5344CB8AC3E}">
        <p14:creationId xmlns:p14="http://schemas.microsoft.com/office/powerpoint/2010/main" val="3289224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E09B85-CBAA-6E41-F9C1-5D0C62D32631}"/>
              </a:ext>
            </a:extLst>
          </p:cNvPr>
          <p:cNvSpPr txBox="1"/>
          <p:nvPr/>
        </p:nvSpPr>
        <p:spPr>
          <a:xfrm>
            <a:off x="704088" y="1490472"/>
            <a:ext cx="10789920" cy="4800600"/>
          </a:xfrm>
          <a:prstGeom prst="rect">
            <a:avLst/>
          </a:prstGeom>
          <a:noFill/>
        </p:spPr>
        <p:txBody>
          <a:bodyPr wrap="square">
            <a:spAutoFit/>
          </a:bodyPr>
          <a:lstStyle>
            <a:defPPr marR="0" lvl="0" algn="l" rtl="0">
              <a:lnSpc>
                <a:spcPct val="100000"/>
              </a:lnSpc>
              <a:spcBef>
                <a:spcPts val="0"/>
              </a:spcBef>
              <a:spcAft>
                <a:spcPts val="0"/>
              </a:spcAft>
              <a:defRPr/>
            </a:defPPr>
            <a:lvl1pPr algn="ctr">
              <a:defRPr sz="2800" b="1">
                <a:solidFill>
                  <a:srgbClr val="A31F34"/>
                </a:solidFill>
                <a:latin typeface="Calibri"/>
                <a:ea typeface="Calibri"/>
                <a:cs typeface="Calibri"/>
              </a:defRPr>
            </a:lvl1pPr>
          </a:lstStyle>
          <a:p>
            <a:pPr marL="285750" indent="-285750" algn="l">
              <a:buFont typeface="Arial" panose="020B0604020202020204" pitchFamily="34" charset="0"/>
              <a:buChar char="•"/>
            </a:pPr>
            <a:r>
              <a:rPr lang="en-US" sz="2000" b="0" dirty="0">
                <a:solidFill>
                  <a:schemeClr val="tx1"/>
                </a:solidFill>
              </a:rPr>
              <a:t>LLM-as-judge with a pinned judge model, so a model under test can never grade its own output.</a:t>
            </a:r>
          </a:p>
          <a:p>
            <a:pPr marL="285750" indent="-285750" algn="l">
              <a:buFont typeface="Arial" panose="020B0604020202020204" pitchFamily="34" charset="0"/>
              <a:buChar char="•"/>
            </a:pPr>
            <a:r>
              <a:rPr lang="en-US" sz="2000" b="0" dirty="0">
                <a:solidFill>
                  <a:schemeClr val="tx1"/>
                </a:solidFill>
              </a:rPr>
              <a:t>Security: five injection surfaces × four configurations × 30 trials per cell.</a:t>
            </a:r>
          </a:p>
          <a:p>
            <a:pPr marL="285750" indent="-285750" algn="l">
              <a:buFont typeface="Arial" panose="020B0604020202020204" pitchFamily="34" charset="0"/>
              <a:buChar char="•"/>
            </a:pPr>
            <a:r>
              <a:rPr lang="en-US" sz="2000" b="0" dirty="0">
                <a:solidFill>
                  <a:schemeClr val="tx1"/>
                </a:solidFill>
              </a:rPr>
              <a:t>Fisher exact tests and Wilson intervals. At n=5, a 30% failure rate reads as zero one time in six.</a:t>
            </a:r>
          </a:p>
          <a:p>
            <a:pPr marL="285750" indent="-285750" algn="l">
              <a:buFont typeface="Arial" panose="020B0604020202020204" pitchFamily="34" charset="0"/>
              <a:buChar char="•"/>
            </a:pPr>
            <a:r>
              <a:rPr lang="en-US" sz="2000" b="0" dirty="0">
                <a:solidFill>
                  <a:schemeClr val="tx1"/>
                </a:solidFill>
              </a:rPr>
              <a:t>Every rate and p-value is recomputed from the raw logs by one script in the repository.</a:t>
            </a:r>
          </a:p>
        </p:txBody>
      </p:sp>
      <p:sp>
        <p:nvSpPr>
          <p:cNvPr id="5" name="TextBox 4">
            <a:extLst>
              <a:ext uri="{FF2B5EF4-FFF2-40B4-BE49-F238E27FC236}">
                <a16:creationId xmlns:a16="http://schemas.microsoft.com/office/drawing/2014/main" id="{E2D08B99-26E8-96E3-B453-DEED97ED3C1F}"/>
              </a:ext>
            </a:extLst>
          </p:cNvPr>
          <p:cNvSpPr txBox="1"/>
          <p:nvPr/>
        </p:nvSpPr>
        <p:spPr>
          <a:xfrm>
            <a:off x="704088" y="608112"/>
            <a:ext cx="1078992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How the system was evaluated</a:t>
            </a:r>
          </a:p>
        </p:txBody>
      </p:sp>
    </p:spTree>
    <p:extLst>
      <p:ext uri="{BB962C8B-B14F-4D97-AF65-F5344CB8AC3E}">
        <p14:creationId xmlns:p14="http://schemas.microsoft.com/office/powerpoint/2010/main" val="3987153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2D08B99-26E8-96E3-B453-DEED97ED3C1F}"/>
              </a:ext>
            </a:extLst>
          </p:cNvPr>
          <p:cNvSpPr txBox="1"/>
          <p:nvPr/>
        </p:nvSpPr>
        <p:spPr>
          <a:xfrm>
            <a:off x="704088" y="608112"/>
            <a:ext cx="1078992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Representative results — security</a:t>
            </a:r>
          </a:p>
        </p:txBody>
      </p:sp>
      <p:pic>
        <p:nvPicPr>
          <p:cNvPr id="6" name="Picture 5" descr="security_slide.png"/>
          <p:cNvPicPr>
            <a:picLocks noChangeAspect="1"/>
          </p:cNvPicPr>
          <p:nvPr/>
        </p:nvPicPr>
        <p:blipFill>
          <a:blip r:embed="rId2"/>
          <a:stretch>
            <a:fillRect/>
          </a:stretch>
        </p:blipFill>
        <p:spPr>
          <a:xfrm>
            <a:off x="655304" y="1335024"/>
            <a:ext cx="10881360" cy="5168646"/>
          </a:xfrm>
          <a:prstGeom prst="rect">
            <a:avLst/>
          </a:prstGeom>
        </p:spPr>
      </p:pic>
    </p:spTree>
    <p:extLst>
      <p:ext uri="{BB962C8B-B14F-4D97-AF65-F5344CB8AC3E}">
        <p14:creationId xmlns:p14="http://schemas.microsoft.com/office/powerpoint/2010/main" val="3987153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E09B85-CBAA-6E41-F9C1-5D0C62D32631}"/>
              </a:ext>
            </a:extLst>
          </p:cNvPr>
          <p:cNvSpPr txBox="1"/>
          <p:nvPr/>
        </p:nvSpPr>
        <p:spPr>
          <a:xfrm>
            <a:off x="704088" y="1490472"/>
            <a:ext cx="10789920" cy="4800600"/>
          </a:xfrm>
          <a:prstGeom prst="rect">
            <a:avLst/>
          </a:prstGeom>
          <a:noFill/>
        </p:spPr>
        <p:txBody>
          <a:bodyPr wrap="square">
            <a:spAutoFit/>
          </a:bodyPr>
          <a:lstStyle>
            <a:defPPr marR="0" lvl="0" algn="l" rtl="0">
              <a:lnSpc>
                <a:spcPct val="100000"/>
              </a:lnSpc>
              <a:spcBef>
                <a:spcPts val="0"/>
              </a:spcBef>
              <a:spcAft>
                <a:spcPts val="0"/>
              </a:spcAft>
              <a:defRPr/>
            </a:defPPr>
            <a:lvl1pPr algn="ctr">
              <a:defRPr sz="2800" b="1">
                <a:solidFill>
                  <a:srgbClr val="A31F34"/>
                </a:solidFill>
                <a:latin typeface="Calibri"/>
                <a:ea typeface="Calibri"/>
                <a:cs typeface="Calibri"/>
              </a:defRPr>
            </a:lvl1pPr>
          </a:lstStyle>
          <a:p>
            <a:pPr marL="285750" indent="-285750" algn="l">
              <a:buFont typeface="Arial" panose="020B0604020202020204" pitchFamily="34" charset="0"/>
              <a:buChar char="•"/>
            </a:pPr>
            <a:r>
              <a:rPr lang="en-US" sz="2000" b="0" dirty="0">
                <a:solidFill>
                  <a:schemeClr val="tx1"/>
                </a:solidFill>
              </a:rPr>
              <a:t>The planner is 62% of all tokens — and it is also the component that crashes under attack.</a:t>
            </a:r>
          </a:p>
          <a:p>
            <a:pPr marL="285750" indent="-285750" algn="l">
              <a:buFont typeface="Arial" panose="020B0604020202020204" pitchFamily="34" charset="0"/>
              <a:buChar char="•"/>
            </a:pPr>
            <a:r>
              <a:rPr lang="en-US" sz="2000" b="0" dirty="0">
                <a:solidFill>
                  <a:schemeClr val="tx1"/>
                </a:solidFill>
              </a:rPr>
              <a:t>Direct path 1,381 tokens; agentic path 3,312. A 58% saving wherever the loop can be skipped.</a:t>
            </a:r>
          </a:p>
          <a:p>
            <a:pPr marL="285750" indent="-285750" algn="l">
              <a:buFont typeface="Arial" panose="020B0604020202020204" pitchFamily="34" charset="0"/>
              <a:buChar char="•"/>
            </a:pPr>
            <a:r>
              <a:rPr lang="en-US" sz="2000" b="0" dirty="0">
                <a:solidFill>
                  <a:schemeClr val="tx1"/>
                </a:solidFill>
              </a:rPr>
              <a:t>Routing accuracy improved from 8/12 to 11/12 against a labelled set of questions.</a:t>
            </a:r>
          </a:p>
          <a:p>
            <a:pPr marL="285750" indent="-285750" algn="l">
              <a:buFont typeface="Arial" panose="020B0604020202020204" pitchFamily="34" charset="0"/>
              <a:buChar char="•"/>
            </a:pPr>
            <a:r>
              <a:rPr lang="en-US" sz="2000" b="0" dirty="0">
                <a:solidFill>
                  <a:schemeClr val="tx1"/>
                </a:solidFill>
              </a:rPr>
              <a:t>But what share of real traffic is simple was never measured, so that saving is an upper bound.</a:t>
            </a:r>
          </a:p>
        </p:txBody>
      </p:sp>
      <p:sp>
        <p:nvSpPr>
          <p:cNvPr id="5" name="TextBox 4">
            <a:extLst>
              <a:ext uri="{FF2B5EF4-FFF2-40B4-BE49-F238E27FC236}">
                <a16:creationId xmlns:a16="http://schemas.microsoft.com/office/drawing/2014/main" id="{E2D08B99-26E8-96E3-B453-DEED97ED3C1F}"/>
              </a:ext>
            </a:extLst>
          </p:cNvPr>
          <p:cNvSpPr txBox="1"/>
          <p:nvPr/>
        </p:nvSpPr>
        <p:spPr>
          <a:xfrm>
            <a:off x="704088" y="608112"/>
            <a:ext cx="1078992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Representative results — cost</a:t>
            </a:r>
          </a:p>
        </p:txBody>
      </p:sp>
    </p:spTree>
    <p:extLst>
      <p:ext uri="{BB962C8B-B14F-4D97-AF65-F5344CB8AC3E}">
        <p14:creationId xmlns:p14="http://schemas.microsoft.com/office/powerpoint/2010/main" val="3987153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631922-EDA2-CA93-9A0A-C814D5C410DE}"/>
              </a:ext>
            </a:extLst>
          </p:cNvPr>
          <p:cNvSpPr txBox="1"/>
          <p:nvPr/>
        </p:nvSpPr>
        <p:spPr>
          <a:xfrm>
            <a:off x="704088" y="1490472"/>
            <a:ext cx="10789920" cy="4800600"/>
          </a:xfrm>
          <a:prstGeom prst="rect">
            <a:avLst/>
          </a:prstGeom>
          <a:noFill/>
        </p:spPr>
        <p:txBody>
          <a:bodyPr wrap="square">
            <a:spAutoFit/>
          </a:bodyPr>
          <a:lstStyle>
            <a:defPPr marR="0" lvl="0" algn="l" rtl="0">
              <a:lnSpc>
                <a:spcPct val="100000"/>
              </a:lnSpc>
              <a:spcBef>
                <a:spcPts val="0"/>
              </a:spcBef>
              <a:spcAft>
                <a:spcPts val="0"/>
              </a:spcAft>
              <a:defRPr/>
            </a:defPPr>
            <a:lvl1pPr algn="ctr">
              <a:defRPr sz="2800" b="1">
                <a:solidFill>
                  <a:srgbClr val="A31F34"/>
                </a:solidFill>
                <a:latin typeface="Calibri"/>
                <a:ea typeface="Calibri"/>
                <a:cs typeface="Calibri"/>
              </a:defRPr>
            </a:lvl1pPr>
          </a:lstStyle>
          <a:p>
            <a:pPr marL="285750" indent="-285750" algn="l">
              <a:buFont typeface="Arial" panose="020B0604020202020204" pitchFamily="34" charset="0"/>
              <a:buChar char="•"/>
            </a:pPr>
            <a:r>
              <a:rPr lang="en-US" sz="2000" b="0" dirty="0">
                <a:solidFill>
                  <a:schemeClr val="tx1"/>
                </a:solidFill>
              </a:rPr>
              <a:t>The decision that mattered most was adding a fourth experimental arm nobody asked for.</a:t>
            </a:r>
          </a:p>
          <a:p>
            <a:pPr marL="285750" indent="-285750" algn="l">
              <a:buFont typeface="Arial" panose="020B0604020202020204" pitchFamily="34" charset="0"/>
              <a:buChar char="•"/>
            </a:pPr>
            <a:r>
              <a:rPr lang="en-US" sz="2000" b="0" dirty="0">
                <a:solidFill>
                  <a:schemeClr val="tx1"/>
                </a:solidFill>
              </a:rPr>
              <a:t>Three arms show that production beats baseline — but not whether the prompt or the code did it.</a:t>
            </a:r>
          </a:p>
          <a:p>
            <a:pPr marL="285750" indent="-285750" algn="l">
              <a:buFont typeface="Arial" panose="020B0604020202020204" pitchFamily="34" charset="0"/>
              <a:buChar char="•"/>
            </a:pPr>
            <a:r>
              <a:rPr lang="en-US" sz="2000" b="0" dirty="0">
                <a:solidFill>
                  <a:schemeClr val="tx1"/>
                </a:solidFill>
              </a:rPr>
              <a:t>The xml-only arm runs the new prompt with every deterministic safeguard switched off.</a:t>
            </a:r>
          </a:p>
          <a:p>
            <a:pPr marL="285750" indent="-285750" algn="l">
              <a:buFont typeface="Arial" panose="020B0604020202020204" pitchFamily="34" charset="0"/>
              <a:buChar char="•"/>
            </a:pPr>
            <a:r>
              <a:rPr lang="en-US" sz="2000" b="0" dirty="0">
                <a:solidFill>
                  <a:schemeClr val="tx1"/>
                </a:solidFill>
              </a:rPr>
              <a:t>It held. The citation validator and fail-closed guard fired zero times in 1,050 trials.</a:t>
            </a:r>
          </a:p>
          <a:p>
            <a:pPr marL="285750" indent="-285750" algn="l">
              <a:buFont typeface="Arial" panose="020B0604020202020204" pitchFamily="34" charset="0"/>
              <a:buChar char="•"/>
            </a:pPr>
            <a:r>
              <a:rPr lang="en-US" sz="2000" b="0" dirty="0">
                <a:solidFill>
                  <a:schemeClr val="tx1"/>
                </a:solidFill>
              </a:rPr>
              <a:t>The prompt was doing all the work. With three arms I would have credited my own code.</a:t>
            </a:r>
          </a:p>
        </p:txBody>
      </p:sp>
      <p:sp>
        <p:nvSpPr>
          <p:cNvPr id="5" name="TextBox 4">
            <a:extLst>
              <a:ext uri="{FF2B5EF4-FFF2-40B4-BE49-F238E27FC236}">
                <a16:creationId xmlns:a16="http://schemas.microsoft.com/office/drawing/2014/main" id="{BC92D5CD-CEED-CAF9-8E1C-650675A313C3}"/>
              </a:ext>
            </a:extLst>
          </p:cNvPr>
          <p:cNvSpPr txBox="1"/>
          <p:nvPr/>
        </p:nvSpPr>
        <p:spPr>
          <a:xfrm>
            <a:off x="704088" y="608112"/>
            <a:ext cx="1078992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Engineering Decisions</a:t>
            </a:r>
          </a:p>
        </p:txBody>
      </p:sp>
    </p:spTree>
    <p:extLst>
      <p:ext uri="{BB962C8B-B14F-4D97-AF65-F5344CB8AC3E}">
        <p14:creationId xmlns:p14="http://schemas.microsoft.com/office/powerpoint/2010/main" val="684907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631922-EDA2-CA93-9A0A-C814D5C410DE}"/>
              </a:ext>
            </a:extLst>
          </p:cNvPr>
          <p:cNvSpPr txBox="1"/>
          <p:nvPr/>
        </p:nvSpPr>
        <p:spPr>
          <a:xfrm>
            <a:off x="704088" y="1490472"/>
            <a:ext cx="10789920" cy="4800600"/>
          </a:xfrm>
          <a:prstGeom prst="rect">
            <a:avLst/>
          </a:prstGeom>
          <a:noFill/>
        </p:spPr>
        <p:txBody>
          <a:bodyPr wrap="square">
            <a:spAutoFit/>
          </a:bodyPr>
          <a:lstStyle>
            <a:defPPr marR="0" lvl="0" algn="l" rtl="0">
              <a:lnSpc>
                <a:spcPct val="100000"/>
              </a:lnSpc>
              <a:spcBef>
                <a:spcPts val="0"/>
              </a:spcBef>
              <a:spcAft>
                <a:spcPts val="0"/>
              </a:spcAft>
              <a:defRPr/>
            </a:defPPr>
            <a:lvl1pPr algn="ctr">
              <a:defRPr sz="2800" b="1">
                <a:solidFill>
                  <a:srgbClr val="A31F34"/>
                </a:solidFill>
                <a:latin typeface="Calibri"/>
                <a:ea typeface="Calibri"/>
                <a:cs typeface="Calibri"/>
              </a:defRPr>
            </a:lvl1pPr>
          </a:lstStyle>
          <a:p>
            <a:pPr marL="285750" indent="-285750" algn="l">
              <a:buFont typeface="Arial" panose="020B0604020202020204" pitchFamily="34" charset="0"/>
              <a:buChar char="•"/>
            </a:pPr>
            <a:r>
              <a:rPr lang="en-US" sz="2000" b="0" dirty="0">
                <a:solidFill>
                  <a:schemeClr val="tx1"/>
                </a:solidFill>
              </a:rPr>
              <a:t>Security vs cost — the cheapest model is where the savings are and where both vulnerabilities live.</a:t>
            </a:r>
          </a:p>
          <a:p>
            <a:pPr marL="285750" indent="-285750" algn="l">
              <a:buFont typeface="Arial" panose="020B0604020202020204" pitchFamily="34" charset="0"/>
              <a:buChar char="•"/>
            </a:pPr>
            <a:r>
              <a:rPr lang="en-US" sz="2000" b="0" dirty="0">
                <a:solidFill>
                  <a:schemeClr val="tx1"/>
                </a:solidFill>
              </a:rPr>
              <a:t>Grounding vs gullibility — “use only the retrieved context” is exactly what the forgery exploits.</a:t>
            </a:r>
          </a:p>
          <a:p>
            <a:pPr marL="285750" indent="-285750" algn="l">
              <a:buFont typeface="Arial" panose="020B0604020202020204" pitchFamily="34" charset="0"/>
              <a:buChar char="•"/>
            </a:pPr>
            <a:r>
              <a:rPr lang="en-US" sz="2000" b="0" dirty="0">
                <a:solidFill>
                  <a:schemeClr val="tx1"/>
                </a:solidFill>
              </a:rPr>
              <a:t>Flexibility vs predictable cost — one vague question clarifies 6 times in 10 and answers 4.</a:t>
            </a:r>
          </a:p>
          <a:p>
            <a:pPr marL="285750" indent="-285750" algn="l">
              <a:buFont typeface="Arial" panose="020B0604020202020204" pitchFamily="34" charset="0"/>
              <a:buChar char="•"/>
            </a:pPr>
            <a:r>
              <a:rPr lang="en-US" sz="2000" b="0" dirty="0">
                <a:solidFill>
                  <a:schemeClr val="tx1"/>
                </a:solidFill>
              </a:rPr>
              <a:t>Caching vs correctness — the cache scored “Does A beat B?” and the reverse as identical. Removed.</a:t>
            </a:r>
          </a:p>
        </p:txBody>
      </p:sp>
      <p:sp>
        <p:nvSpPr>
          <p:cNvPr id="5" name="TextBox 4">
            <a:extLst>
              <a:ext uri="{FF2B5EF4-FFF2-40B4-BE49-F238E27FC236}">
                <a16:creationId xmlns:a16="http://schemas.microsoft.com/office/drawing/2014/main" id="{BC92D5CD-CEED-CAF9-8E1C-650675A313C3}"/>
              </a:ext>
            </a:extLst>
          </p:cNvPr>
          <p:cNvSpPr txBox="1"/>
          <p:nvPr/>
        </p:nvSpPr>
        <p:spPr>
          <a:xfrm>
            <a:off x="704088" y="608112"/>
            <a:ext cx="1078992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Key trade-offs</a:t>
            </a:r>
          </a:p>
        </p:txBody>
      </p:sp>
    </p:spTree>
    <p:extLst>
      <p:ext uri="{BB962C8B-B14F-4D97-AF65-F5344CB8AC3E}">
        <p14:creationId xmlns:p14="http://schemas.microsoft.com/office/powerpoint/2010/main" val="684907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631922-EDA2-CA93-9A0A-C814D5C410DE}"/>
              </a:ext>
            </a:extLst>
          </p:cNvPr>
          <p:cNvSpPr txBox="1"/>
          <p:nvPr/>
        </p:nvSpPr>
        <p:spPr>
          <a:xfrm>
            <a:off x="704088" y="1490472"/>
            <a:ext cx="10789920" cy="4800600"/>
          </a:xfrm>
          <a:prstGeom prst="rect">
            <a:avLst/>
          </a:prstGeom>
          <a:noFill/>
        </p:spPr>
        <p:txBody>
          <a:bodyPr wrap="square">
            <a:spAutoFit/>
          </a:bodyPr>
          <a:lstStyle>
            <a:defPPr marR="0" lvl="0" algn="l" rtl="0">
              <a:lnSpc>
                <a:spcPct val="100000"/>
              </a:lnSpc>
              <a:spcBef>
                <a:spcPts val="0"/>
              </a:spcBef>
              <a:spcAft>
                <a:spcPts val="0"/>
              </a:spcAft>
              <a:defRPr/>
            </a:defPPr>
            <a:lvl1pPr algn="ctr">
              <a:defRPr sz="2800" b="1">
                <a:solidFill>
                  <a:srgbClr val="A31F34"/>
                </a:solidFill>
                <a:latin typeface="Calibri"/>
                <a:ea typeface="Calibri"/>
                <a:cs typeface="Calibri"/>
              </a:defRPr>
            </a:lvl1pPr>
          </a:lstStyle>
          <a:p>
            <a:pPr marL="285750" indent="-285750" algn="l">
              <a:buFont typeface="Arial" panose="020B0604020202020204" pitchFamily="34" charset="0"/>
              <a:buChar char="•"/>
            </a:pPr>
            <a:r>
              <a:rPr lang="en-US" sz="2000" b="0" dirty="0">
                <a:solidFill>
                  <a:schemeClr val="tx1"/>
                </a:solidFill>
              </a:rPr>
              <a:t>A detector matched “arr” as a substring — it would have fired on “narrow” and “carry”.</a:t>
            </a:r>
          </a:p>
          <a:p>
            <a:pPr marL="285750" indent="-285750" algn="l">
              <a:buFont typeface="Arial" panose="020B0604020202020204" pitchFamily="34" charset="0"/>
              <a:buChar char="•"/>
            </a:pPr>
            <a:r>
              <a:rPr lang="en-US" sz="2000" b="0" dirty="0">
                <a:solidFill>
                  <a:schemeClr val="tx1"/>
                </a:solidFill>
              </a:rPr>
              <a:t>Parse failures were scored as the system resisting. A crashed planner is the attack succeeding.</a:t>
            </a:r>
          </a:p>
          <a:p>
            <a:pPr marL="285750" indent="-285750" algn="l">
              <a:buFont typeface="Arial" panose="020B0604020202020204" pitchFamily="34" charset="0"/>
              <a:buChar char="•"/>
            </a:pPr>
            <a:r>
              <a:rPr lang="en-US" sz="2000" b="0" dirty="0">
                <a:solidFill>
                  <a:schemeClr val="tx1"/>
                </a:solidFill>
              </a:rPr>
              <a:t>A keyword detector called a correct refusal compromised, then missed one in the second paragraph.</a:t>
            </a:r>
          </a:p>
          <a:p>
            <a:pPr marL="285750" indent="-285750" algn="l">
              <a:buFont typeface="Arial" panose="020B0604020202020204" pitchFamily="34" charset="0"/>
              <a:buChar char="•"/>
            </a:pPr>
            <a:r>
              <a:rPr lang="en-US" sz="2000" b="0" dirty="0">
                <a:solidFill>
                  <a:schemeClr val="tx1"/>
                </a:solidFill>
              </a:rPr>
              <a:t>A warning was unreachable: its logging sat inside if verbose, and the caller passed verbose=False.</a:t>
            </a:r>
          </a:p>
          <a:p>
            <a:pPr marL="285750" indent="-285750" algn="l">
              <a:buFont typeface="Arial" panose="020B0604020202020204" pitchFamily="34" charset="0"/>
              <a:buChar char="•"/>
            </a:pPr>
            <a:r>
              <a:rPr lang="en-US" sz="2000" b="0" dirty="0">
                <a:solidFill>
                  <a:schemeClr val="tx1"/>
                </a:solidFill>
              </a:rPr>
              <a:t>All four biased results toward making the system look safer than it actually was.</a:t>
            </a:r>
          </a:p>
        </p:txBody>
      </p:sp>
      <p:sp>
        <p:nvSpPr>
          <p:cNvPr id="5" name="TextBox 4">
            <a:extLst>
              <a:ext uri="{FF2B5EF4-FFF2-40B4-BE49-F238E27FC236}">
                <a16:creationId xmlns:a16="http://schemas.microsoft.com/office/drawing/2014/main" id="{BC92D5CD-CEED-CAF9-8E1C-650675A313C3}"/>
              </a:ext>
            </a:extLst>
          </p:cNvPr>
          <p:cNvSpPr txBox="1"/>
          <p:nvPr/>
        </p:nvSpPr>
        <p:spPr>
          <a:xfrm>
            <a:off x="704088" y="608112"/>
            <a:ext cx="1078992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Four of the bugs were in the measuring instruments</a:t>
            </a:r>
          </a:p>
        </p:txBody>
      </p:sp>
    </p:spTree>
    <p:extLst>
      <p:ext uri="{BB962C8B-B14F-4D97-AF65-F5344CB8AC3E}">
        <p14:creationId xmlns:p14="http://schemas.microsoft.com/office/powerpoint/2010/main" val="684907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8013A2-70CA-8E35-F3F3-F40CD428166B}"/>
              </a:ext>
            </a:extLst>
          </p:cNvPr>
          <p:cNvSpPr txBox="1"/>
          <p:nvPr/>
        </p:nvSpPr>
        <p:spPr>
          <a:xfrm>
            <a:off x="704088" y="1490472"/>
            <a:ext cx="10789920" cy="4800600"/>
          </a:xfrm>
          <a:prstGeom prst="rect">
            <a:avLst/>
          </a:prstGeom>
          <a:noFill/>
        </p:spPr>
        <p:txBody>
          <a:bodyPr wrap="square">
            <a:spAutoFit/>
          </a:bodyPr>
          <a:lstStyle>
            <a:defPPr marR="0" lvl="0" algn="l" rtl="0">
              <a:lnSpc>
                <a:spcPct val="100000"/>
              </a:lnSpc>
              <a:spcBef>
                <a:spcPts val="0"/>
              </a:spcBef>
              <a:spcAft>
                <a:spcPts val="0"/>
              </a:spcAft>
              <a:defRPr/>
            </a:defPPr>
            <a:lvl1pPr algn="ctr">
              <a:defRPr sz="2800" b="1">
                <a:solidFill>
                  <a:srgbClr val="A31F34"/>
                </a:solidFill>
                <a:latin typeface="Calibri"/>
                <a:ea typeface="Calibri"/>
                <a:cs typeface="Calibri"/>
              </a:defRPr>
            </a:lvl1pPr>
          </a:lstStyle>
          <a:p>
            <a:pPr marL="285750" indent="-285750" algn="l">
              <a:buFont typeface="Arial" panose="020B0604020202020204" pitchFamily="34" charset="0"/>
              <a:buChar char="•"/>
            </a:pPr>
            <a:r>
              <a:rPr lang="en-US" sz="2000" b="0" dirty="0">
                <a:solidFill>
                  <a:schemeClr val="tx1"/>
                </a:solidFill>
              </a:rPr>
              <a:t>The defences are sentences in a prompt. A model swap could undo them and nothing would notice.</a:t>
            </a:r>
          </a:p>
          <a:p>
            <a:pPr marL="285750" indent="-285750" algn="l">
              <a:buFont typeface="Arial" panose="020B0604020202020204" pitchFamily="34" charset="0"/>
              <a:buChar char="•"/>
            </a:pPr>
            <a:r>
              <a:rPr lang="en-US" sz="2000" b="0" dirty="0">
                <a:solidFill>
                  <a:schemeClr val="tx1"/>
                </a:solidFill>
              </a:rPr>
              <a:t>Five attacks, all written by me. Zero failures means my imagination held, not that the system did.</a:t>
            </a:r>
          </a:p>
          <a:p>
            <a:pPr marL="285750" indent="-285750" algn="l">
              <a:buFont typeface="Arial" panose="020B0604020202020204" pitchFamily="34" charset="0"/>
              <a:buChar char="•"/>
            </a:pPr>
            <a:r>
              <a:rPr lang="en-US" sz="2000" b="0" dirty="0">
                <a:solidFill>
                  <a:schemeClr val="tx1"/>
                </a:solidFill>
              </a:rPr>
              <a:t>Both vulnerabilities are specific to the cheapest model. One provider, one corpus, two models.</a:t>
            </a:r>
          </a:p>
          <a:p>
            <a:pPr marL="285750" indent="-285750" algn="l">
              <a:buFont typeface="Arial" panose="020B0604020202020204" pitchFamily="34" charset="0"/>
              <a:buChar char="•"/>
            </a:pPr>
            <a:r>
              <a:rPr lang="en-US" sz="2000" b="0" dirty="0">
                <a:solidFill>
                  <a:schemeClr val="tx1"/>
                </a:solidFill>
              </a:rPr>
              <a:t>First fix: move the defences into code, and prove it with the same four-arm test.</a:t>
            </a:r>
          </a:p>
          <a:p>
            <a:pPr marL="285750" indent="-285750" algn="l">
              <a:buFont typeface="Arial" panose="020B0604020202020204" pitchFamily="34" charset="0"/>
              <a:buChar char="•"/>
            </a:pPr>
            <a:r>
              <a:rPr lang="en-US" sz="2000" b="0" dirty="0">
                <a:solidFill>
                  <a:schemeClr val="tx1"/>
                </a:solidFill>
              </a:rPr>
              <a:t>Then: attacks written by someone else, the real traffic mix measured, and monitoring in place.</a:t>
            </a:r>
          </a:p>
        </p:txBody>
      </p:sp>
      <p:sp>
        <p:nvSpPr>
          <p:cNvPr id="5" name="TextBox 4">
            <a:extLst>
              <a:ext uri="{FF2B5EF4-FFF2-40B4-BE49-F238E27FC236}">
                <a16:creationId xmlns:a16="http://schemas.microsoft.com/office/drawing/2014/main" id="{688822D8-D529-2998-D46B-41BB9F87B091}"/>
              </a:ext>
            </a:extLst>
          </p:cNvPr>
          <p:cNvSpPr txBox="1"/>
          <p:nvPr/>
        </p:nvSpPr>
        <p:spPr>
          <a:xfrm>
            <a:off x="704088" y="608112"/>
            <a:ext cx="1078992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Limitations and Future Improvements</a:t>
            </a:r>
          </a:p>
        </p:txBody>
      </p:sp>
    </p:spTree>
    <p:extLst>
      <p:ext uri="{BB962C8B-B14F-4D97-AF65-F5344CB8AC3E}">
        <p14:creationId xmlns:p14="http://schemas.microsoft.com/office/powerpoint/2010/main" val="2040043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0254CD-0903-966C-40EF-C5EBA490158C}"/>
              </a:ext>
            </a:extLst>
          </p:cNvPr>
          <p:cNvSpPr txBox="1"/>
          <p:nvPr/>
        </p:nvSpPr>
        <p:spPr>
          <a:xfrm>
            <a:off x="704088" y="1490472"/>
            <a:ext cx="10789920" cy="4800600"/>
          </a:xfrm>
          <a:prstGeom prst="rect">
            <a:avLst/>
          </a:prstGeom>
          <a:noFill/>
        </p:spPr>
        <p:txBody>
          <a:bodyPr wrap="square">
            <a:spAutoFit/>
          </a:bodyPr>
          <a:lstStyle>
            <a:defPPr marR="0" lvl="0" algn="l" rtl="0">
              <a:lnSpc>
                <a:spcPct val="100000"/>
              </a:lnSpc>
              <a:spcBef>
                <a:spcPts val="0"/>
              </a:spcBef>
              <a:spcAft>
                <a:spcPts val="0"/>
              </a:spcAft>
              <a:defRPr/>
            </a:defPPr>
            <a:lvl1pPr algn="ctr">
              <a:defRPr sz="2800" b="1">
                <a:solidFill>
                  <a:srgbClr val="A31F34"/>
                </a:solidFill>
                <a:latin typeface="Calibri"/>
                <a:ea typeface="Calibri"/>
                <a:cs typeface="Calibri"/>
              </a:defRPr>
            </a:lvl1pPr>
          </a:lstStyle>
          <a:p>
            <a:pPr algn="l"/>
            <a:r>
              <a:rPr lang="en-US" sz="2000" b="0" dirty="0">
                <a:solidFill>
                  <a:schemeClr val="tx1"/>
                </a:solidFill>
              </a:rPr>
              <a:t>Thank you.</a:t>
            </a:r>
          </a:p>
          <a:p>
            <a:pPr algn="l"/>
            <a:r>
              <a:rPr lang="en-US" sz="2000" b="0" dirty="0">
                <a:solidFill>
                  <a:schemeClr val="tx1"/>
                </a:solidFill>
              </a:rPr>
              <a:t>github.com/deolly/research-paper-navigator</a:t>
            </a:r>
          </a:p>
          <a:p>
            <a:pPr algn="l"/>
            <a:r>
              <a:rPr lang="en-US" sz="2000" b="0" dirty="0">
                <a:solidFill>
                  <a:schemeClr val="tx1"/>
                </a:solidFill>
              </a:rPr>
              <a:t/>
            </a:r>
          </a:p>
          <a:p>
            <a:pPr algn="l"/>
            <a:r>
              <a:rPr lang="en-US" sz="2000" b="0" dirty="0">
                <a:solidFill>
                  <a:schemeClr val="tx1"/>
                </a:solidFill>
              </a:rPr>
              <a:t>Happy to go deeper on the fourth arm, the four detector bugs,</a:t>
            </a:r>
          </a:p>
          <a:p>
            <a:pPr algn="l"/>
            <a:r>
              <a:rPr lang="en-US" sz="2000" b="0" dirty="0">
                <a:solidFill>
                  <a:schemeClr val="tx1"/>
                </a:solidFill>
              </a:rPr>
              <a:t>or why the prompt I called “hardened” made one attack worse.</a:t>
            </a:r>
          </a:p>
        </p:txBody>
      </p:sp>
      <p:sp>
        <p:nvSpPr>
          <p:cNvPr id="5" name="TextBox 4">
            <a:extLst>
              <a:ext uri="{FF2B5EF4-FFF2-40B4-BE49-F238E27FC236}">
                <a16:creationId xmlns:a16="http://schemas.microsoft.com/office/drawing/2014/main" id="{7FE4D497-87C5-39D6-FAF0-4FE272E0EB7E}"/>
              </a:ext>
            </a:extLst>
          </p:cNvPr>
          <p:cNvSpPr txBox="1"/>
          <p:nvPr/>
        </p:nvSpPr>
        <p:spPr>
          <a:xfrm>
            <a:off x="704088" y="608112"/>
            <a:ext cx="10789920" cy="523220"/>
          </a:xfrm>
          <a:prstGeom prst="rect">
            <a:avLst/>
          </a:prstGeom>
          <a:noFill/>
        </p:spPr>
        <p:txBody>
          <a:bodyPr wrap="square">
            <a:spAutoFit/>
          </a:bodyPr>
          <a:lstStyle/>
          <a:p>
            <a:pPr algn="ctr"/>
            <a:r>
              <a:rPr lang="en-IN" sz="2800" b="1" dirty="0">
                <a:solidFill>
                  <a:srgbClr val="A31F34"/>
                </a:solidFill>
                <a:latin typeface="Calibri" panose="020F0502020204030204" pitchFamily="34" charset="0"/>
                <a:ea typeface="Calibri" panose="020F0502020204030204" pitchFamily="34" charset="0"/>
                <a:cs typeface="Calibri" panose="020F0502020204030204" pitchFamily="34" charset="0"/>
              </a:rPr>
              <a:t>Questions</a:t>
            </a:r>
          </a:p>
        </p:txBody>
      </p:sp>
    </p:spTree>
    <p:extLst>
      <p:ext uri="{BB962C8B-B14F-4D97-AF65-F5344CB8AC3E}">
        <p14:creationId xmlns:p14="http://schemas.microsoft.com/office/powerpoint/2010/main" val="3937486198"/>
      </p:ext>
    </p:extLst>
  </p:cSld>
  <p:clrMapOvr>
    <a:masterClrMapping/>
  </p:clrMapOvr>
</p:sld>
</file>

<file path=ppt/theme/theme1.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215</Words>
  <Application>Microsoft Office PowerPoint</Application>
  <PresentationFormat>Widescreen</PresentationFormat>
  <Paragraphs>58</Paragraphs>
  <Slides>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1_MIT 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 Shilpiya</dc:creator>
  <cp:lastModifiedBy>Fizza Maira</cp:lastModifiedBy>
  <cp:revision>1</cp:revision>
  <dcterms:created xsi:type="dcterms:W3CDTF">2018-11-05T13:58:18Z</dcterms:created>
  <dcterms:modified xsi:type="dcterms:W3CDTF">2026-08-06T07:13:19Z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0x010100296DC331548237488BA9A87C5C22BBA4</vt:lpwstr>
  </property>
  <property fmtid="{D5CDD505-2E9C-101B-9397-08002B2CF9AE}" pid="3" name="ArticulateGUID">
    <vt:lpwstr>405BEB8A-A8B9-422E-86C1-391F774E521D</vt:lpwstr>
  </property>
  <property fmtid="{D5CDD505-2E9C-101B-9397-08002B2CF9AE}" pid="4" name="ArticulatePath">
    <vt:lpwstr>MIT_xPRO_PPT_Template</vt:lpwstr>
  </property>
</Properties>
</file>